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/>
            </a:pPr>
            <a:r>
              <a:t>SHAMAMO POS</a:t>
            </a:r>
          </a:p>
          <a:p>
            <a:pPr>
              <a:defRPr sz="2500"/>
            </a:pPr>
            <a:r>
              <a:t>Mobile-first POS for small Kenyan retailers</a:t>
            </a:r>
          </a:p>
          <a:p>
            <a:pPr>
              <a:defRPr sz="1700"/>
            </a:pPr>
            <a:r>
              <a:t>Project briefing and pilot proposal |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What problem are we solving?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Small retailers need a simple way to record sales, stock and business performance in one place.</a:t>
            </a:r>
          </a:p>
          <a:p>
            <a:pPr>
              <a:spcAft>
                <a:spcPts val="1000"/>
              </a:spcAft>
              <a:defRPr sz="1900"/>
            </a:pPr>
            <a:r>
              <a:t>Paper records and scattered payment messages can make reconciliation and management visibility difficult.</a:t>
            </a:r>
          </a:p>
          <a:p>
            <a:pPr>
              <a:spcAft>
                <a:spcPts val="1000"/>
              </a:spcAft>
              <a:defRPr sz="1900"/>
            </a:pPr>
            <a:r>
              <a:t>Owners and cashiers need different levels of access to financial information.</a:t>
            </a:r>
          </a:p>
          <a:p>
            <a:pPr>
              <a:spcAft>
                <a:spcPts val="1000"/>
              </a:spcAft>
              <a:defRPr sz="1900"/>
            </a:pPr>
            <a:r>
              <a:t>Connectivity cannot always be assumed, especially in small retail environments.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Why does the problem matter?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The 7.41M MSME figure often cited in Kenya comes from the MSME survey baseline; the underlying data recorded 1.56M licensed and 5.85M unlicensed enterprises. It should be presented with its source/date, not as a 2026 census.</a:t>
            </a:r>
          </a:p>
          <a:p>
            <a:pPr>
              <a:spcAft>
                <a:spcPts val="1000"/>
              </a:spcAft>
              <a:defRPr sz="1900"/>
            </a:pPr>
            <a:r>
              <a:t>KBA reported KSh 326.5B in MSME credit disbursed by banks in 2025, showing the scale of the financing ecosystem.</a:t>
            </a:r>
          </a:p>
          <a:p>
            <a:pPr>
              <a:spcAft>
                <a:spcPts val="1000"/>
              </a:spcAft>
              <a:defRPr sz="1900"/>
            </a:pPr>
            <a:r>
              <a:t>Better records can improve business visibility, but Shamamo POS does not promise automatic loan approval.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What is Shamamo POS?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A Kenyan-built, mobile-first POS and retail management application.</a:t>
            </a:r>
          </a:p>
          <a:p>
            <a:pPr>
              <a:spcAft>
                <a:spcPts val="1000"/>
              </a:spcAft>
              <a:defRPr sz="1900"/>
            </a:pPr>
            <a:r>
              <a:t>Core workflow: products → billing → stock → reports → staff permissions → receipt printing.</a:t>
            </a:r>
          </a:p>
          <a:p>
            <a:pPr>
              <a:spcAft>
                <a:spcPts val="1000"/>
              </a:spcAft>
              <a:defRPr sz="1900"/>
            </a:pPr>
            <a:r>
              <a:t>Designed first for a single shop, with a clear path toward multi-branch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What does the user gain?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Owner: sales, stock and profit visibility.</a:t>
            </a:r>
          </a:p>
          <a:p>
            <a:pPr>
              <a:spcAft>
                <a:spcPts val="1000"/>
              </a:spcAft>
              <a:defRPr sz="1900"/>
            </a:pPr>
            <a:r>
              <a:t>Cashier: fast billing without access to sensitive owner-only profit information.</a:t>
            </a:r>
          </a:p>
          <a:p>
            <a:pPr>
              <a:spcAft>
                <a:spcPts val="1000"/>
              </a:spcAft>
              <a:defRPr sz="1900"/>
            </a:pPr>
            <a:r>
              <a:t>Business: structured transaction history and less dependence on manual tallying.</a:t>
            </a:r>
          </a:p>
          <a:p>
            <a:pPr>
              <a:spcAft>
                <a:spcPts val="1000"/>
              </a:spcAft>
              <a:defRPr sz="1900"/>
            </a:pPr>
            <a:r>
              <a:t>Customer: faster checkout and printed receipts where a printer is deployed.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What makes the project distinct?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Offline-first transaction workflow.</a:t>
            </a:r>
          </a:p>
          <a:p>
            <a:pPr>
              <a:spcAft>
                <a:spcPts val="1000"/>
              </a:spcAft>
              <a:defRPr sz="1900"/>
            </a:pPr>
            <a:r>
              <a:t>Role-based restriction of sensitive financial information.</a:t>
            </a:r>
          </a:p>
          <a:p>
            <a:pPr>
              <a:spcAft>
                <a:spcPts val="1000"/>
              </a:spcAft>
              <a:defRPr sz="1900"/>
            </a:pPr>
            <a:r>
              <a:t>Low-cost Android + 58mm Bluetooth printer starting configuration.</a:t>
            </a:r>
          </a:p>
          <a:p>
            <a:pPr>
              <a:spcAft>
                <a:spcPts val="1000"/>
              </a:spcAft>
              <a:defRPr sz="1900"/>
            </a:pPr>
            <a:r>
              <a:t>Architecture that can expand from one counter to multiple branches.</a:t>
            </a:r>
          </a:p>
          <a:p>
            <a:pPr>
              <a:spcAft>
                <a:spcPts val="1000"/>
              </a:spcAft>
              <a:defRPr sz="1900"/>
            </a:pPr>
            <a:r>
              <a:t>Kenya-focused roadmap for payments, eTIMS interoperability and local support.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What has already been built?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Flutter mobile application and core POS logic.</a:t>
            </a:r>
          </a:p>
          <a:p>
            <a:pPr>
              <a:spcAft>
                <a:spcPts val="1000"/>
              </a:spcAft>
              <a:defRPr sz="1900"/>
            </a:pPr>
            <a:r>
              <a:t>Admin/Cashier RBAC verified.</a:t>
            </a:r>
          </a:p>
          <a:p>
            <a:pPr>
              <a:spcAft>
                <a:spcPts val="1000"/>
              </a:spcAft>
              <a:defRPr sz="1900"/>
            </a:pPr>
            <a:r>
              <a:t>Reports: Sales Summary, Profit &amp; Loss and Stock Balance.</a:t>
            </a:r>
          </a:p>
          <a:p>
            <a:pPr>
              <a:spcAft>
                <a:spcPts val="1000"/>
              </a:spcAft>
              <a:defRPr sz="1900"/>
            </a:pPr>
            <a:r>
              <a:t>Prototype arithmetic verified: KSh 3,000 revenue − KSh 2,100 COGS = KSh 900 net profit.</a:t>
            </a:r>
          </a:p>
          <a:p>
            <a:pPr>
              <a:spcAft>
                <a:spcPts val="1000"/>
              </a:spcAft>
              <a:defRPr sz="1900"/>
            </a:pPr>
            <a:r>
              <a:t>Offline/synchronization and failed-sync handling implemented in the current architecture.</a:t>
            </a:r>
          </a:p>
          <a:p>
            <a:pPr>
              <a:spcAft>
                <a:spcPts val="1000"/>
              </a:spcAft>
              <a:defRPr sz="1900"/>
            </a:pPr>
            <a:r>
              <a:t>Staff management and local printing functionality implemented; Android printer stack still undergoing technical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What is still to be built?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Production hardening and wider Android-device testing.</a:t>
            </a:r>
          </a:p>
          <a:p>
            <a:pPr>
              <a:spcAft>
                <a:spcPts val="1000"/>
              </a:spcAft>
              <a:defRPr sz="1900"/>
            </a:pPr>
            <a:r>
              <a:t>Printer-model compatibility testing.</a:t>
            </a:r>
          </a:p>
          <a:p>
            <a:pPr>
              <a:spcAft>
                <a:spcPts val="1000"/>
              </a:spcAft>
              <a:defRPr sz="1900"/>
            </a:pPr>
            <a:r>
              <a:t>Multi-branch web dashboard.</a:t>
            </a:r>
          </a:p>
          <a:p>
            <a:pPr>
              <a:spcAft>
                <a:spcPts val="1000"/>
              </a:spcAft>
              <a:defRPr sz="1900"/>
            </a:pPr>
            <a:r>
              <a:t>Notification/automation layer.</a:t>
            </a:r>
          </a:p>
          <a:p>
            <a:pPr>
              <a:spcAft>
                <a:spcPts val="1000"/>
              </a:spcAft>
              <a:defRPr sz="1900"/>
            </a:pPr>
            <a:r>
              <a:t>eTIMS integration and compliance validation.</a:t>
            </a:r>
          </a:p>
          <a:p>
            <a:pPr>
              <a:spcAft>
                <a:spcPts val="1000"/>
              </a:spcAft>
              <a:defRPr sz="1900"/>
            </a:pPr>
            <a:r>
              <a:t>Merchant usability and security testing at pilot scale.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Single-shop hardware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Android phone/tablet: primary POS device.</a:t>
            </a:r>
          </a:p>
          <a:p>
            <a:pPr>
              <a:spcAft>
                <a:spcPts val="1000"/>
              </a:spcAft>
              <a:defRPr sz="1900"/>
            </a:pPr>
            <a:r>
              <a:t>58mm Bluetooth thermal printer: optional receipt printer per counter.</a:t>
            </a:r>
          </a:p>
          <a:p>
            <a:pPr>
              <a:spcAft>
                <a:spcPts val="1000"/>
              </a:spcAft>
              <a:defRPr sz="1900"/>
            </a:pPr>
            <a:r>
              <a:t>Mobile data/Wi-Fi: for cloud synchronization and online services.</a:t>
            </a:r>
          </a:p>
          <a:p>
            <a:pPr>
              <a:spcAft>
                <a:spcPts val="1000"/>
              </a:spcAft>
              <a:defRPr sz="1900"/>
            </a:pPr>
            <a:r>
              <a:t>Power backup: reduce downtime during power interruptions.</a:t>
            </a:r>
          </a:p>
          <a:p>
            <a:pPr>
              <a:spcAft>
                <a:spcPts val="1000"/>
              </a:spcAft>
              <a:defRPr sz="1900"/>
            </a:pPr>
            <a:r>
              <a:t>Scale stage: 80mm Ethernet/Wi-Fi printing and multi-terminal network.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How will the pilot be measured?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Active shops and active users.</a:t>
            </a:r>
          </a:p>
          <a:p>
            <a:pPr>
              <a:spcAft>
                <a:spcPts val="1000"/>
              </a:spcAft>
              <a:defRPr sz="1900"/>
            </a:pPr>
            <a:r>
              <a:t>Transactions recorded and successful sync rate.</a:t>
            </a:r>
          </a:p>
          <a:p>
            <a:pPr>
              <a:spcAft>
                <a:spcPts val="1000"/>
              </a:spcAft>
              <a:defRPr sz="1900"/>
            </a:pPr>
            <a:r>
              <a:t>Failed-sync incidents and resolution time.</a:t>
            </a:r>
          </a:p>
          <a:p>
            <a:pPr>
              <a:spcAft>
                <a:spcPts val="1000"/>
              </a:spcAft>
              <a:defRPr sz="1900"/>
            </a:pPr>
            <a:r>
              <a:t>Receipt-print success by printer model.</a:t>
            </a:r>
          </a:p>
          <a:p>
            <a:pPr>
              <a:spcAft>
                <a:spcPts val="1000"/>
              </a:spcAft>
              <a:defRPr sz="1900"/>
            </a:pPr>
            <a:r>
              <a:t>Average sale completion time.</a:t>
            </a:r>
          </a:p>
          <a:p>
            <a:pPr>
              <a:spcAft>
                <a:spcPts val="1000"/>
              </a:spcAft>
              <a:defRPr sz="1900"/>
            </a:pPr>
            <a:r>
              <a:t>End-of-day reconciliation time.</a:t>
            </a:r>
          </a:p>
          <a:p>
            <a:pPr>
              <a:spcAft>
                <a:spcPts val="1000"/>
              </a:spcAft>
              <a:defRPr sz="1900"/>
            </a:pPr>
            <a:r>
              <a:t>30/60/90-day user retention.</a:t>
            </a:r>
          </a:p>
          <a:p>
            <a:pPr>
              <a:spcAft>
                <a:spcPts val="1000"/>
              </a:spcAft>
              <a:defRPr sz="1900"/>
            </a:pPr>
            <a:r>
              <a:t>User-reported problems and support load.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What is the role of the MP's office?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Consider the project as a local digital-enterprise pilot, not as a completed nationwide solution.</a:t>
            </a:r>
          </a:p>
          <a:p>
            <a:pPr>
              <a:spcAft>
                <a:spcPts val="1000"/>
              </a:spcAft>
              <a:defRPr sz="1900"/>
            </a:pPr>
            <a:r>
              <a:t>Where appropriate, facilitate introductions to trader associations, youth innovation forums or community business networks.</a:t>
            </a:r>
          </a:p>
          <a:p>
            <a:pPr>
              <a:spcAft>
                <a:spcPts val="1000"/>
              </a:spcAft>
              <a:defRPr sz="1900"/>
            </a:pPr>
            <a:r>
              <a:t>Provide a setting for a product demonstration or pilot discussion.</a:t>
            </a:r>
          </a:p>
          <a:p>
            <a:pPr>
              <a:spcAft>
                <a:spcPts val="1000"/>
              </a:spcAft>
              <a:defRPr sz="1900"/>
            </a:pPr>
            <a:r>
              <a:t>Any pilot should remain voluntary, measurable and independently assessed.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What is the business model?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Pilot pricing should be validated with merchants before being fixed.</a:t>
            </a:r>
          </a:p>
          <a:p>
            <a:pPr>
              <a:spcAft>
                <a:spcPts val="1000"/>
              </a:spcAft>
              <a:defRPr sz="1900"/>
            </a:pPr>
            <a:r>
              <a:t>Potential revenue streams: subscription/tiered software plans, onboarding, support and hardware deployment.</a:t>
            </a:r>
          </a:p>
          <a:p>
            <a:pPr>
              <a:spcAft>
                <a:spcPts val="1000"/>
              </a:spcAft>
              <a:defRPr sz="1900"/>
            </a:pPr>
            <a:r>
              <a:t>Multi-branch management and advanced reporting can form higher-value service tiers.</a:t>
            </a:r>
          </a:p>
          <a:p>
            <a:pPr>
              <a:spcAft>
                <a:spcPts val="1000"/>
              </a:spcAft>
              <a:defRPr sz="1900"/>
            </a:pPr>
            <a:r>
              <a:t>Do not present revenue forecasts as achieved results.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The 90-day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Finalize production build and Android compatibility.</a:t>
            </a:r>
          </a:p>
          <a:p>
            <a:pPr>
              <a:spcAft>
                <a:spcPts val="1000"/>
              </a:spcAft>
              <a:defRPr sz="1900"/>
            </a:pPr>
            <a:r>
              <a:t>Validate thermal printer models.</a:t>
            </a:r>
          </a:p>
          <a:p>
            <a:pPr>
              <a:spcAft>
                <a:spcPts val="1000"/>
              </a:spcAft>
              <a:defRPr sz="1900"/>
            </a:pPr>
            <a:r>
              <a:t>Recruit a small merchant pilot.</a:t>
            </a:r>
          </a:p>
          <a:p>
            <a:pPr>
              <a:spcAft>
                <a:spcPts val="1000"/>
              </a:spcAft>
              <a:defRPr sz="1900"/>
            </a:pPr>
            <a:r>
              <a:t>Train users and collect baseline measurements.</a:t>
            </a:r>
          </a:p>
          <a:p>
            <a:pPr>
              <a:spcAft>
                <a:spcPts val="1000"/>
              </a:spcAft>
              <a:defRPr sz="1900"/>
            </a:pPr>
            <a:r>
              <a:t>Monitor sync, reporting, stock and printing performance.</a:t>
            </a:r>
          </a:p>
          <a:p>
            <a:pPr>
              <a:spcAft>
                <a:spcPts val="1000"/>
              </a:spcAft>
              <a:defRPr sz="1900"/>
            </a:pPr>
            <a:r>
              <a:t>Publish a pilot findings report and use evidence to decide the next scale phase.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Key pitch questions to be ready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What exact problem does the app solve?</a:t>
            </a:r>
          </a:p>
          <a:p>
            <a:pPr>
              <a:spcAft>
                <a:spcPts val="1000"/>
              </a:spcAft>
              <a:defRPr sz="1900"/>
            </a:pPr>
            <a:r>
              <a:t>Who is the first customer?</a:t>
            </a:r>
          </a:p>
          <a:p>
            <a:pPr>
              <a:spcAft>
                <a:spcPts val="1000"/>
              </a:spcAft>
              <a:defRPr sz="1900"/>
            </a:pPr>
            <a:r>
              <a:t>Why will they use it instead of existing POS tools?</a:t>
            </a:r>
          </a:p>
          <a:p>
            <a:pPr>
              <a:spcAft>
                <a:spcPts val="1000"/>
              </a:spcAft>
              <a:defRPr sz="1900"/>
            </a:pPr>
            <a:r>
              <a:t>What happens without internet?</a:t>
            </a:r>
          </a:p>
          <a:p>
            <a:pPr>
              <a:spcAft>
                <a:spcPts val="1000"/>
              </a:spcAft>
              <a:defRPr sz="1900"/>
            </a:pPr>
            <a:r>
              <a:t>What happens if data fails to sync?</a:t>
            </a:r>
          </a:p>
          <a:p>
            <a:pPr>
              <a:spcAft>
                <a:spcPts val="1000"/>
              </a:spcAft>
              <a:defRPr sz="1900"/>
            </a:pPr>
            <a:r>
              <a:t>How are cashier and owner permissions enforced?</a:t>
            </a:r>
          </a:p>
          <a:p>
            <a:pPr>
              <a:spcAft>
                <a:spcPts val="1000"/>
              </a:spcAft>
              <a:defRPr sz="1900"/>
            </a:pPr>
            <a:r>
              <a:t>What is already working today?</a:t>
            </a:r>
          </a:p>
          <a:p>
            <a:pPr>
              <a:spcAft>
                <a:spcPts val="1000"/>
              </a:spcAft>
              <a:defRPr sz="1900"/>
            </a:pPr>
            <a:r>
              <a:t>What is still a prototype or roadmap item?</a:t>
            </a:r>
          </a:p>
          <a:p>
            <a:pPr>
              <a:spcAft>
                <a:spcPts val="1000"/>
              </a:spcAft>
              <a:defRPr sz="1900"/>
            </a:pPr>
            <a:r>
              <a:t>How will success be measured?</a:t>
            </a:r>
          </a:p>
          <a:p>
            <a:pPr>
              <a:spcAft>
                <a:spcPts val="1000"/>
              </a:spcAft>
              <a:defRPr sz="1900"/>
            </a:pPr>
            <a:r>
              <a:t>How will the project sustain itself financially?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Important compliance clarification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KRA currently states that persons engaged in business are required to onboard eTIMS and issue electronic tax invoices.</a:t>
            </a:r>
          </a:p>
          <a:p>
            <a:pPr>
              <a:spcAft>
                <a:spcPts val="1000"/>
              </a:spcAft>
              <a:defRPr sz="1900"/>
            </a:pPr>
            <a:r>
              <a:t>KRA provides several eTIMS options, including Android, web, USSD and system-to-system integration.</a:t>
            </a:r>
          </a:p>
          <a:p>
            <a:pPr>
              <a:spcAft>
                <a:spcPts val="1000"/>
              </a:spcAft>
              <a:defRPr sz="1900"/>
            </a:pPr>
            <a:r>
              <a:t>Shamamo POS should describe eTIMS integration as a planned capability until the integration is actually implemented and validated.</a:t>
            </a:r>
          </a:p>
          <a:p>
            <a:pPr>
              <a:spcAft>
                <a:spcPts val="1000"/>
              </a:spcAft>
              <a:defRPr sz="1900"/>
            </a:pPr>
            <a:r>
              <a:t>Tax compliance should never be claimed merely because a merchant uses Shamamo POS.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15. 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Shamamo POS is not being presented as a finished nationwide platform.</a:t>
            </a:r>
          </a:p>
          <a:p>
            <a:pPr>
              <a:spcAft>
                <a:spcPts val="1000"/>
              </a:spcAft>
              <a:defRPr sz="1900"/>
            </a:pPr>
            <a:r>
              <a:t>It is a working prototype with verified core POS logic and a defined path to field validation.</a:t>
            </a:r>
          </a:p>
          <a:p>
            <a:pPr>
              <a:spcAft>
                <a:spcPts val="1000"/>
              </a:spcAft>
              <a:defRPr sz="1900"/>
            </a:pPr>
            <a:r>
              <a:t>The immediate objective is evidence: test the product with real small retailers, measure results, improve the system, then scale based on what the data shows.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Sources used for the factual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KNBS / National Treasury &amp; Economic Planning: MSME baseline figures cited in the 2024 Draft Credit Guarantee Policy.</a:t>
            </a:r>
          </a:p>
          <a:p>
            <a:pPr>
              <a:spcAft>
                <a:spcPts val="1000"/>
              </a:spcAft>
              <a:defRPr sz="1700"/>
            </a:pPr>
            <a:r>
              <a:t>Kenya Bankers Association, State of the Banking Industry Report 2026: MSME lending figures for 2025.</a:t>
            </a:r>
          </a:p>
          <a:p>
            <a:pPr>
              <a:spcAft>
                <a:spcPts val="1000"/>
              </a:spcAft>
              <a:defRPr sz="1700"/>
            </a:pPr>
            <a:r>
              <a:t>Kenya Revenue Authority: eTIMS current guidance and available solution types.</a:t>
            </a:r>
          </a:p>
          <a:p>
            <a:pPr>
              <a:spcAft>
                <a:spcPts val="1000"/>
              </a:spcAft>
              <a:defRPr sz="1700"/>
            </a:pPr>
            <a:r>
              <a:t>KRA 2026 notice on validation of income and expenses against TIMS/eTIMS and other data sources.</a:t>
            </a:r>
          </a:p>
          <a:p>
            <a:pPr>
              <a:spcAft>
                <a:spcPts val="1000"/>
              </a:spcAft>
              <a:defRPr sz="1700"/>
            </a:pPr>
            <a:r>
              <a:t>Government of Kenya / Presidency: BETA and grassroots MSME/economic development context.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