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84003" y="1143000"/>
            <a:ext cx="5684954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300" b="1"/>
            </a:pPr>
            <a:r>
              <a:rPr dirty="0"/>
              <a:t>SHAMAMO POS</a:t>
            </a:r>
          </a:p>
          <a:p>
            <a:pPr algn="ctr">
              <a:defRPr sz="2500"/>
            </a:pPr>
            <a:r>
              <a:rPr dirty="0"/>
              <a:t>Mobile-first POS for Kenya's small retailers</a:t>
            </a:r>
          </a:p>
          <a:p>
            <a:pPr algn="ctr">
              <a:defRPr sz="1800"/>
            </a:pPr>
            <a:r>
              <a:rPr dirty="0"/>
              <a:t>Refined BETA / MP Project Presentation</a:t>
            </a:r>
          </a:p>
          <a:p>
            <a:pPr algn="ctr">
              <a:defRPr sz="1600"/>
            </a:pPr>
            <a:r>
              <a:rPr dirty="0"/>
              <a:t>Nixon Ali | Mombasa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96219" y="411480"/>
            <a:ext cx="29690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1.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/>
              <a:t>Small retailers need reliable records of sales, stock and staff activity.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Paper records and informal tracking can make stock control and end-of-day reconciliation difficult.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Business records can also be useful evidence when a trader seeks financing or supplier credit.</a:t>
            </a:r>
          </a:p>
          <a:p>
            <a:pPr>
              <a:spcAft>
                <a:spcPts val="1000"/>
              </a:spcAft>
              <a:defRPr sz="1900"/>
            </a:pPr>
            <a:r>
              <a:rPr dirty="0" err="1"/>
              <a:t>Shamamo</a:t>
            </a:r>
            <a:r>
              <a:rPr dirty="0"/>
              <a:t> POS starts with one focused market: small hardware and electronics shops.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84760" y="411480"/>
            <a:ext cx="23920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2.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Android-based POS and business-management application.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Record sales, manage products/stock, control staff access and print receipts.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Designed around small-shop realities: shared devices, varying digital literacy and intermittent connectivity.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Built to start small and expand after field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1056" y="365760"/>
            <a:ext cx="41594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3. What is already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Flutter + Firebase/</a:t>
            </a:r>
            <a:r>
              <a:rPr dirty="0" err="1"/>
              <a:t>Firestore</a:t>
            </a:r>
            <a:r>
              <a:rPr dirty="0"/>
              <a:t> + Firebase Authentication application.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Admin/Cashier roles with enforced </a:t>
            </a:r>
            <a:r>
              <a:rPr dirty="0" err="1"/>
              <a:t>Firestore</a:t>
            </a:r>
            <a:r>
              <a:rPr dirty="0"/>
              <a:t> security rules.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Offline-first sales capture and automatic background synchronization.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Failed-sync durability and Admin 'Needs Review' recovery.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In-app staff management.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Android thermal receipt printing.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 err="1"/>
              <a:t>KSh</a:t>
            </a:r>
            <a:r>
              <a:rPr dirty="0"/>
              <a:t> formatting and outdoor-readable UI.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Production-grade </a:t>
            </a:r>
            <a:r>
              <a:rPr dirty="0" err="1"/>
              <a:t>Firestore</a:t>
            </a:r>
            <a:r>
              <a:rPr dirty="0"/>
              <a:t> security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What is not yet presented as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Product archiving — in progress.</a:t>
            </a:r>
          </a:p>
          <a:p>
            <a:pPr>
              <a:spcAft>
                <a:spcPts val="1000"/>
              </a:spcAft>
              <a:defRPr sz="1900"/>
            </a:pPr>
            <a:r>
              <a:t>Final Play Store package/branding — in progress.</a:t>
            </a:r>
          </a:p>
          <a:p>
            <a:pPr>
              <a:spcAft>
                <a:spcPts val="1000"/>
              </a:spcAft>
              <a:defRPr sz="1900"/>
            </a:pPr>
            <a:r>
              <a:t>Physical thermal-printer field testing — planned.</a:t>
            </a:r>
          </a:p>
          <a:p>
            <a:pPr>
              <a:spcAft>
                <a:spcPts val="1000"/>
              </a:spcAft>
              <a:defRPr sz="1900"/>
            </a:pPr>
            <a:r>
              <a:t>Web Admin dashboard — planned.</a:t>
            </a:r>
          </a:p>
          <a:p>
            <a:pPr>
              <a:spcAft>
                <a:spcPts val="1000"/>
              </a:spcAft>
              <a:defRPr sz="1900"/>
            </a:pPr>
            <a:r>
              <a:t>SMS stock/customer notification layer — planned.</a:t>
            </a:r>
          </a:p>
          <a:p>
            <a:pPr>
              <a:spcAft>
                <a:spcPts val="1000"/>
              </a:spcAft>
              <a:defRPr sz="1900"/>
            </a:pPr>
            <a:r>
              <a:t>First live pilot deployment — planned.</a:t>
            </a:r>
          </a:p>
          <a:p>
            <a:pPr>
              <a:spcAft>
                <a:spcPts val="1000"/>
              </a:spcAft>
              <a:defRPr sz="1900"/>
            </a:pPr>
            <a:r>
              <a:t>eTIMS-related integration — roadmap item until implemented and validated.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Why Shamamo POS?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advantage is the combination, not a claim that every POS feature is unique.</a:t>
            </a:r>
          </a:p>
          <a:p>
            <a:pPr>
              <a:spcAft>
                <a:spcPts val="1000"/>
              </a:spcAft>
              <a:defRPr sz="1900"/>
            </a:pPr>
            <a:r>
              <a:t>Offline-first transaction workflow.</a:t>
            </a:r>
          </a:p>
          <a:p>
            <a:pPr>
              <a:spcAft>
                <a:spcPts val="1000"/>
              </a:spcAft>
              <a:defRPr sz="1900"/>
            </a:pPr>
            <a:r>
              <a:t>Role-based protection of sensitive business information.</a:t>
            </a:r>
          </a:p>
          <a:p>
            <a:pPr>
              <a:spcAft>
                <a:spcPts val="1000"/>
              </a:spcAft>
              <a:defRPr sz="1900"/>
            </a:pPr>
            <a:r>
              <a:t>Android-first, KSh-based and designed for small-shop conditions.</a:t>
            </a:r>
          </a:p>
          <a:p>
            <a:pPr>
              <a:spcAft>
                <a:spcPts val="1000"/>
              </a:spcAft>
              <a:defRPr sz="1900"/>
            </a:pPr>
            <a:r>
              <a:t>Local development and support.</a:t>
            </a:r>
          </a:p>
          <a:p>
            <a:pPr>
              <a:spcAft>
                <a:spcPts val="1000"/>
              </a:spcAft>
              <a:defRPr sz="1900"/>
            </a:pPr>
            <a:r>
              <a:t>Focused starting market with a path to other MSME retail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3251" y="365760"/>
            <a:ext cx="28750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6. BETA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Primary: MSME Economy — </a:t>
            </a:r>
            <a:r>
              <a:rPr dirty="0" err="1"/>
              <a:t>digitises</a:t>
            </a:r>
            <a:r>
              <a:rPr dirty="0"/>
              <a:t> stock, sales and staff accountability.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Primary: Digital Superhighway &amp; Creative Economy — expands access to a locally built digital business tool.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Supporting: Affordable Housing &amp; Settlement — hardware retail supports construction supply chains.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Supporting: Agriculture — some hardware shops supply irrigation, fencing and agricultural tools.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Universal Healthcare is not a direct product focus.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Pilot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Begin with 20–50 pilot shops.</a:t>
            </a:r>
          </a:p>
          <a:p>
            <a:pPr>
              <a:spcAft>
                <a:spcPts val="1000"/>
              </a:spcAft>
              <a:defRPr sz="1900"/>
            </a:pPr>
            <a:r>
              <a:t>Focus on Mombasa/Coast before wider county-by-county expansion.</a:t>
            </a:r>
          </a:p>
          <a:p>
            <a:pPr>
              <a:spcAft>
                <a:spcPts val="1000"/>
              </a:spcAft>
              <a:defRPr sz="1900"/>
            </a:pPr>
            <a:r>
              <a:t>Provide hands-on onboarding and staff training.</a:t>
            </a:r>
          </a:p>
          <a:p>
            <a:pPr>
              <a:spcAft>
                <a:spcPts val="1000"/>
              </a:spcAft>
              <a:defRPr sz="1900"/>
            </a:pPr>
            <a:r>
              <a:t>Test real devices, connectivity conditions and thermal printers.</a:t>
            </a:r>
          </a:p>
          <a:p>
            <a:pPr>
              <a:spcAft>
                <a:spcPts val="1000"/>
              </a:spcAft>
              <a:defRPr sz="1900"/>
            </a:pPr>
            <a:r>
              <a:t>Collect measurable feedback before scaling.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How success will be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Active pilot shops and users.</a:t>
            </a:r>
          </a:p>
          <a:p>
            <a:pPr>
              <a:spcAft>
                <a:spcPts val="1000"/>
              </a:spcAft>
              <a:defRPr sz="1900"/>
            </a:pPr>
            <a:r>
              <a:t>Transactions recorded.</a:t>
            </a:r>
          </a:p>
          <a:p>
            <a:pPr>
              <a:spcAft>
                <a:spcPts val="1000"/>
              </a:spcAft>
              <a:defRPr sz="1900"/>
            </a:pPr>
            <a:r>
              <a:t>Successful synchronization rate.</a:t>
            </a:r>
          </a:p>
          <a:p>
            <a:pPr>
              <a:spcAft>
                <a:spcPts val="1000"/>
              </a:spcAft>
              <a:defRPr sz="1900"/>
            </a:pPr>
            <a:r>
              <a:t>Failed-sync incidents and resolution time.</a:t>
            </a:r>
          </a:p>
          <a:p>
            <a:pPr>
              <a:spcAft>
                <a:spcPts val="1000"/>
              </a:spcAft>
              <a:defRPr sz="1900"/>
            </a:pPr>
            <a:r>
              <a:t>Receipt-print success rate.</a:t>
            </a:r>
          </a:p>
          <a:p>
            <a:pPr>
              <a:spcAft>
                <a:spcPts val="1000"/>
              </a:spcAft>
              <a:defRPr sz="1900"/>
            </a:pPr>
            <a:r>
              <a:t>Average sale completion time.</a:t>
            </a:r>
          </a:p>
          <a:p>
            <a:pPr>
              <a:spcAft>
                <a:spcPts val="1000"/>
              </a:spcAft>
              <a:defRPr sz="1900"/>
            </a:pPr>
            <a:r>
              <a:t>End-of-day reconciliation time.</a:t>
            </a:r>
          </a:p>
          <a:p>
            <a:pPr>
              <a:spcAft>
                <a:spcPts val="1000"/>
              </a:spcAft>
              <a:defRPr sz="1900"/>
            </a:pPr>
            <a:r>
              <a:t>30/60/90-day retention and recurring support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Potential freemium entry model to lower adoption barriers.</a:t>
            </a:r>
          </a:p>
          <a:p>
            <a:pPr>
              <a:spcAft>
                <a:spcPts val="1000"/>
              </a:spcAft>
              <a:defRPr sz="1900"/>
            </a:pPr>
            <a:r>
              <a:t>Paid tier for advanced reports, multi-user capabilities, eTIMS-related functionality and reconciliation features.</a:t>
            </a:r>
          </a:p>
          <a:p>
            <a:pPr>
              <a:spcAft>
                <a:spcPts val="1000"/>
              </a:spcAft>
              <a:defRPr sz="1900"/>
            </a:pPr>
            <a:r>
              <a:t>Additional revenue possibilities: onboarding/support, hardware deployment and institutional programmes.</a:t>
            </a:r>
          </a:p>
          <a:p>
            <a:pPr>
              <a:spcAft>
                <a:spcPts val="1000"/>
              </a:spcAft>
              <a:defRPr sz="1900"/>
            </a:pPr>
            <a:r>
              <a:t>Example only: 1,000 users × 20% × KSh 500 = KSh 100,000/month; this is not an achieved or guaranteed forecast.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Months 1–2: finish archiving, printer testing and first live pilot.</a:t>
            </a:r>
          </a:p>
          <a:p>
            <a:pPr>
              <a:spcAft>
                <a:spcPts val="1000"/>
              </a:spcAft>
              <a:defRPr sz="1900"/>
            </a:pPr>
            <a:r>
              <a:t>Months 3–4: incorporate feedback, Play Store release and web Admin dashboard.</a:t>
            </a:r>
          </a:p>
          <a:p>
            <a:pPr>
              <a:spcAft>
                <a:spcPts val="1000"/>
              </a:spcAft>
              <a:defRPr sz="1900"/>
            </a:pPr>
            <a:r>
              <a:t>Months 5–9: expand to additional hardware shops and launch SMS layer.</a:t>
            </a:r>
          </a:p>
          <a:p>
            <a:pPr>
              <a:spcAft>
                <a:spcPts val="1000"/>
              </a:spcAft>
              <a:defRPr sz="1900"/>
            </a:pPr>
            <a:r>
              <a:t>Month 10+: pursue county/MSME/trade and supplier partnerships.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18688" y="365760"/>
            <a:ext cx="4453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10. Support We Are Seeking.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876326"/>
              </p:ext>
            </p:extLst>
          </p:nvPr>
        </p:nvGraphicFramePr>
        <p:xfrm>
          <a:off x="1078992" y="1280162"/>
          <a:ext cx="8961120" cy="5157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80560">
                  <a:extLst>
                    <a:ext uri="{9D8B030D-6E8A-4147-A177-3AD203B41FA5}">
                      <a16:colId xmlns:a16="http://schemas.microsoft.com/office/drawing/2014/main" val="3577694995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45628"/>
                    </a:ext>
                  </a:extLst>
                </a:gridCol>
              </a:tblGrid>
              <a:tr h="736745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effectLst/>
                        </a:rPr>
                        <a:t>Support Area</a:t>
                      </a:r>
                      <a:endParaRPr lang="en-US" sz="1050" dirty="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effectLst/>
                        </a:rPr>
                        <a:t>What We Need</a:t>
                      </a:r>
                      <a:endParaRPr lang="en-US" sz="1050" dirty="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34071870"/>
                  </a:ext>
                </a:extLst>
              </a:tr>
              <a:tr h="736745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Pilot Access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Introductions to 20–50 MSMEs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40485442"/>
                  </a:ext>
                </a:extLst>
              </a:tr>
              <a:tr h="736745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Government Linkages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Connections to relevant agencies/programmes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552162"/>
                  </a:ext>
                </a:extLst>
              </a:tr>
              <a:tr h="736745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Technical Mentorship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Product, security &amp; compliance guidance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79558309"/>
                  </a:ext>
                </a:extLst>
              </a:tr>
              <a:tr h="736745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Deployment Support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Devices, printers &amp; connectivity where available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4043668"/>
                  </a:ext>
                </a:extLst>
              </a:tr>
              <a:tr h="736745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Market Access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Introductions to MSME/business networks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8451105"/>
                  </a:ext>
                </a:extLst>
              </a:tr>
              <a:tr h="736745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effectLst/>
                        </a:rPr>
                        <a:t>Visibility</a:t>
                      </a:r>
                      <a:endParaRPr lang="en-US" sz="105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effectLst/>
                        </a:rPr>
                        <a:t>Opportunities to demonstrate the solution</a:t>
                      </a:r>
                      <a:endParaRPr lang="en-US" sz="1050" dirty="0">
                        <a:effectLst/>
                        <a:latin typeface="Aptos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71232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What support is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Introductions to suitable trader associations and local business networks.</a:t>
            </a:r>
          </a:p>
          <a:p>
            <a:pPr>
              <a:spcAft>
                <a:spcPts val="1000"/>
              </a:spcAft>
              <a:defRPr sz="1900"/>
            </a:pPr>
            <a:r>
              <a:t>Connections to relevant county trade/MSME offices and innovation hubs.</a:t>
            </a:r>
          </a:p>
          <a:p>
            <a:pPr>
              <a:spcAft>
                <a:spcPts val="1000"/>
              </a:spcAft>
              <a:defRPr sz="1900"/>
            </a:pPr>
            <a:r>
              <a:t>Opportunity to demonstrate the product at a youth/business forum.</a:t>
            </a:r>
          </a:p>
          <a:p>
            <a:pPr>
              <a:spcAft>
                <a:spcPts val="1000"/>
              </a:spcAft>
              <a:defRPr sz="1900"/>
            </a:pPr>
            <a:r>
              <a:t>Guidance on relevant innovation and MSME programmes.</a:t>
            </a:r>
          </a:p>
          <a:p>
            <a:pPr>
              <a:spcAft>
                <a:spcPts val="1000"/>
              </a:spcAft>
              <a:defRPr sz="1900"/>
            </a:pPr>
            <a:r>
              <a:t>Where independently appropriate, consideration of a support/endorsement letter for partner or programme applications.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Questions we should be ready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What problem does Shamamo solve?</a:t>
            </a:r>
          </a:p>
          <a:p>
            <a:pPr>
              <a:spcAft>
                <a:spcPts val="1000"/>
              </a:spcAft>
              <a:defRPr sz="1900"/>
            </a:pPr>
            <a:r>
              <a:t>Why start with hardware shops?</a:t>
            </a:r>
          </a:p>
          <a:p>
            <a:pPr>
              <a:spcAft>
                <a:spcPts val="1000"/>
              </a:spcAft>
              <a:defRPr sz="1900"/>
            </a:pPr>
            <a:r>
              <a:t>What is actually working today?</a:t>
            </a:r>
          </a:p>
          <a:p>
            <a:pPr>
              <a:spcAft>
                <a:spcPts val="1000"/>
              </a:spcAft>
              <a:defRPr sz="1900"/>
            </a:pPr>
            <a:r>
              <a:t>What happens when the internet fails?</a:t>
            </a:r>
          </a:p>
          <a:p>
            <a:pPr>
              <a:spcAft>
                <a:spcPts val="1000"/>
              </a:spcAft>
              <a:defRPr sz="1900"/>
            </a:pPr>
            <a:r>
              <a:t>How is failed data recovered?</a:t>
            </a:r>
          </a:p>
          <a:p>
            <a:pPr>
              <a:spcAft>
                <a:spcPts val="1000"/>
              </a:spcAft>
              <a:defRPr sz="1900"/>
            </a:pPr>
            <a:r>
              <a:t>How are cashier permissions enforced?</a:t>
            </a:r>
          </a:p>
          <a:p>
            <a:pPr>
              <a:spcAft>
                <a:spcPts val="1000"/>
              </a:spcAft>
              <a:defRPr sz="1900"/>
            </a:pPr>
            <a:r>
              <a:t>Is eTIMS already integrated?</a:t>
            </a:r>
          </a:p>
          <a:p>
            <a:pPr>
              <a:spcAft>
                <a:spcPts val="1000"/>
              </a:spcAft>
              <a:defRPr sz="1900"/>
            </a:pPr>
            <a:r>
              <a:t>How will the pilot prove impact?</a:t>
            </a:r>
          </a:p>
          <a:p>
            <a:pPr>
              <a:spcAft>
                <a:spcPts val="1000"/>
              </a:spcAft>
              <a:defRPr sz="1900"/>
            </a:pPr>
            <a:r>
              <a:t>How will the business make money?</a:t>
            </a:r>
          </a:p>
          <a:p>
            <a:pPr>
              <a:spcAft>
                <a:spcPts val="1000"/>
              </a:spcAft>
              <a:defRPr sz="1900"/>
            </a:pPr>
            <a:r>
              <a:t>Why should this scale beyond the first shop?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The 6-month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Google Play release.</a:t>
            </a:r>
          </a:p>
          <a:p>
            <a:pPr>
              <a:spcAft>
                <a:spcPts val="1000"/>
              </a:spcAft>
              <a:defRPr sz="1900"/>
            </a:pPr>
            <a:r>
              <a:t>20–50 pilot shops engaged.</a:t>
            </a:r>
          </a:p>
          <a:p>
            <a:pPr>
              <a:spcAft>
                <a:spcPts val="1000"/>
              </a:spcAft>
              <a:defRPr sz="1900"/>
            </a:pPr>
            <a:r>
              <a:t>At least one live pilot deployment.</a:t>
            </a:r>
          </a:p>
          <a:p>
            <a:pPr>
              <a:spcAft>
                <a:spcPts val="1000"/>
              </a:spcAft>
              <a:defRPr sz="1900"/>
            </a:pPr>
            <a:r>
              <a:t>Printer compatibility validated.</a:t>
            </a:r>
          </a:p>
          <a:p>
            <a:pPr>
              <a:spcAft>
                <a:spcPts val="1000"/>
              </a:spcAft>
              <a:defRPr sz="1900"/>
            </a:pPr>
            <a:r>
              <a:t>Product refined using field evidence.</a:t>
            </a:r>
          </a:p>
          <a:p>
            <a:pPr>
              <a:spcAft>
                <a:spcPts val="1000"/>
              </a:spcAft>
              <a:defRPr sz="1900"/>
            </a:pPr>
            <a:r>
              <a:t>Progress on payment/eTIMS roadmap items only where technically and compliantly appropriate.</a:t>
            </a:r>
          </a:p>
          <a:p>
            <a:pPr>
              <a:spcAft>
                <a:spcPts val="1000"/>
              </a:spcAft>
              <a:defRPr sz="1900"/>
            </a:pPr>
            <a:r>
              <a:t>Evidence package prepared for the next scale stage.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Closing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 err="1"/>
              <a:t>Shamamo</a:t>
            </a:r>
            <a:r>
              <a:rPr dirty="0"/>
              <a:t> POS is a working Kenyan-built prototype — not a claim of nationwide deployment.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The immediate goal is to validate the product with real merchants.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The pilot will turn assumptions into measurable evidence.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Scale should follow what the evidence shows.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417320"/>
            <a:ext cx="10789920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/>
            </a:pPr>
            <a:r>
              <a:rPr lang="en-US" sz="1600" b="1" dirty="0"/>
              <a:t>Our goal: Move </a:t>
            </a:r>
            <a:r>
              <a:rPr lang="en-US" sz="1600" b="1" dirty="0" err="1"/>
              <a:t>Shamamo</a:t>
            </a:r>
            <a:r>
              <a:rPr lang="en-US" sz="1600" b="1" dirty="0"/>
              <a:t> POS from a working product to a validated real-world pilot.</a:t>
            </a:r>
          </a:p>
          <a:p>
            <a:pPr algn="ctr">
              <a:spcAft>
                <a:spcPts val="1000"/>
              </a:spcAft>
              <a:defRPr sz="1600"/>
            </a:pP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885</Words>
  <Application>Microsoft Office PowerPoint</Application>
  <PresentationFormat>Widescreen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MS Mincho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Nixon</cp:lastModifiedBy>
  <cp:revision>3</cp:revision>
  <dcterms:created xsi:type="dcterms:W3CDTF">2013-01-27T09:14:16Z</dcterms:created>
  <dcterms:modified xsi:type="dcterms:W3CDTF">2026-09-28T10:10:07Z</dcterms:modified>
  <cp:category/>
</cp:coreProperties>
</file>